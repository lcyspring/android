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914400"/>
            <a:ext cx="2286000" cy="228600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5486400"/>
            <a:ext cx="1645920" cy="164592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943600"/>
            <a:ext cx="1097280" cy="109728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校园报修助手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E0CBF0"/>
                </a:solidFill>
                <a:latin typeface="微软雅黑"/>
              </a:rPr>
              <a:t>微信小程序 · 移动应用综合项目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1371600" cy="381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《移动应用开发》实验七 · 综合项目答辩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FBCEC"/>
                </a:solidFill>
                <a:latin typeface="微软雅黑"/>
              </a:rPr>
              <a:t>项目九·微信小程序应用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/>
              </a:rPr>
              <a:t>李春雨 · 学号 202305567128 · 计科 2 班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/>
              </a:rPr>
              <a:t>GitHub: lcyspring/Android (lcy 分支)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一、选题与背景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6750A4"/>
                </a:solidFill>
                <a:latin typeface="微软雅黑"/>
              </a:rPr>
              <a:t>为什么做校园报修小程序？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486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212121"/>
                </a:solidFill>
                <a:latin typeface="微软雅黑"/>
              </a:rPr>
              <a:t>校园宿舍/教室/公共区域报修场景高频、刚需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212121"/>
                </a:solidFill>
                <a:latin typeface="微软雅黑"/>
              </a:rPr>
              <a:t>传统报修：到宿管处登记、电话沟通，记录易丢失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212121"/>
                </a:solidFill>
                <a:latin typeface="微软雅黑"/>
              </a:rPr>
              <a:t>维修进度不透明，无法及时反馈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212121"/>
                </a:solidFill>
                <a:latin typeface="微软雅黑"/>
              </a:rPr>
              <a:t>管理员缺少集中处理入口，统计不便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011680"/>
            <a:ext cx="5029200" cy="3840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011680"/>
            <a:ext cx="5029200" cy="54864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小程序方案优势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600">
                <a:solidFill>
                  <a:srgbClr val="212121"/>
                </a:solidFill>
                <a:latin typeface="微软雅黑"/>
              </a:rPr>
              <a:t>扫码即用，无需下载安装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600">
                <a:solidFill>
                  <a:srgbClr val="212121"/>
                </a:solidFill>
                <a:latin typeface="微软雅黑"/>
              </a:rPr>
              <a:t>提交即存，记录不丢失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600">
                <a:solidFill>
                  <a:srgbClr val="212121"/>
                </a:solidFill>
                <a:latin typeface="微软雅黑"/>
              </a:rPr>
              <a:t>处理完成自动订阅消息通知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600">
                <a:solidFill>
                  <a:srgbClr val="212121"/>
                </a:solidFill>
                <a:latin typeface="微软雅黑"/>
              </a:rPr>
              <a:t>管理员集中处理入口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600">
                <a:solidFill>
                  <a:srgbClr val="212121"/>
                </a:solidFill>
                <a:latin typeface="微软雅黑"/>
              </a:rPr>
              <a:t>云开发零后端运维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7A45"/>
                </a:solidFill>
                <a:latin typeface="微软雅黑"/>
              </a:rPr>
              <a:t>→ 选题对应任务书「项目九·微信小程序应用」，8 项基本功能全覆盖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二、需求分析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6750A4"/>
                </a:solidFill>
                <a:latin typeface="微软雅黑"/>
              </a:rPr>
              <a:t>核心用户与场景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报修人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微软雅黑"/>
              </a:rPr>
              <a:t>学生/教师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011680"/>
            <a:ext cx="3474720" cy="13716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管理员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微软雅黑"/>
              </a:rPr>
              <a:t>宿管/后勤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19" y="2011680"/>
            <a:ext cx="3474720" cy="13716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访客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651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微软雅黑"/>
              </a:rPr>
              <a:t>浏览查看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核心功能（任务书 8 项全覆盖）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50800" cy="6858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① 多页面导航（4 页）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39" y="429768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39" y="4297680"/>
            <a:ext cx="50800" cy="6858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9" y="4297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② 用户输入+校验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97680"/>
            <a:ext cx="50800" cy="6858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297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③ 列表展示+分页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59" y="429768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59" y="4297680"/>
            <a:ext cx="50800" cy="6858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4297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④ 数据增删改查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6636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50800" cy="6858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663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⑤ 网络请求（云API）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516636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20439" y="5166360"/>
            <a:ext cx="50800" cy="6858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9" y="51663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⑥ 本地数据保存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6636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5166360"/>
            <a:ext cx="50800" cy="6858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1663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⑦ 订阅消息通知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59" y="5166360"/>
            <a:ext cx="2697480" cy="685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81159" y="5166360"/>
            <a:ext cx="50800" cy="6858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19" y="51663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12121"/>
                </a:solidFill>
                <a:latin typeface="微软雅黑"/>
              </a:rPr>
              <a:t>⑧ 完整业务流程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三、系统架构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分层架构：UI → Repository → 云/本地双模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463040"/>
            <a:ext cx="10332720" cy="1143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5727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UI 层（Page）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index 列表 / publish 报修 / detail 详情 / admin 管理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2651760"/>
            <a:ext cx="457200" cy="182880"/>
          </a:xfrm>
          <a:prstGeom prst="downArrow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834640"/>
            <a:ext cx="10332720" cy="11430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Repository 层（utils/api.js）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290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统一封装所有数据访问，页面不直接调 wx.cloud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60" y="4023360"/>
            <a:ext cx="457200" cy="182880"/>
          </a:xfrm>
          <a:prstGeom prst="downArrow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10332720" cy="1143000"/>
          </a:xfrm>
          <a:prstGeom prst="rect">
            <a:avLst/>
          </a:prstGeom>
          <a:solidFill>
            <a:srgbClr val="557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159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数据源（双模）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006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云开发（数据库/云函数/云存储）+ 本地兜底（wx.storage）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86400"/>
            <a:ext cx="10332720" cy="1097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486400"/>
            <a:ext cx="50800" cy="109728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7A45"/>
                </a:solidFill>
                <a:latin typeface="微软雅黑"/>
              </a:rPr>
              <a:t>实验七新增·双模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8978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USE_MOCK_FALLBACK 开关：无云环境自动回退 wx.storage，mock 种子 3 条 + 「我的报修」本地缓存，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保证无云配额也能演示完整业务流程，覆盖任务书「网络请求」「本地数据保存」双要求。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四、页面与业务流程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4 个核心页面 · 完整业务闭环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2697480" cy="2560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2697480" cy="50292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报修列表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06060"/>
                </a:solidFill>
                <a:latin typeface="微软雅黑"/>
              </a:rPr>
              <a:t>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2423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状态/楼栋筛选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分页加载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点击进详情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2011680"/>
            <a:ext cx="2697480" cy="2560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2011680"/>
            <a:ext cx="2697480" cy="5029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2057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提交报修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606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06060"/>
                </a:solidFill>
                <a:latin typeface="微软雅黑"/>
              </a:rPr>
              <a:t>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9" y="3017520"/>
            <a:ext cx="2423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表单录入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输入校验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选图+订阅消息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2697480" cy="2560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26974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报修详情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06060"/>
                </a:solidFill>
                <a:latin typeface="微软雅黑"/>
              </a:rPr>
              <a:t>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17520"/>
            <a:ext cx="2423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查看单条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预览图片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拨号/复制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2011680"/>
            <a:ext cx="2697480" cy="2560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59" y="2011680"/>
            <a:ext cx="2697480" cy="502920"/>
          </a:xfrm>
          <a:prstGeom prst="rect">
            <a:avLst/>
          </a:prstGeom>
          <a:solidFill>
            <a:srgbClr val="557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管理后台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606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06060"/>
                </a:solidFill>
                <a:latin typeface="微软雅黑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017520"/>
            <a:ext cx="2423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处理/删除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权限判断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12121"/>
                </a:solidFill>
                <a:latin typeface="微软雅黑"/>
              </a:rPr>
              <a:t>处理通知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10927080" cy="82296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提交报修 → 写库/存本地 → 通知管理员 → 管理员处理 → 通知报修人 → 列表更新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状态机：未处理 ⇄ 已处理（管理员处理触发切换，订阅消息通知报修人）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五、关键技术实现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6 个核心代码片段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800" cy="13716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① 统一 Repository（utils/api.js）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所有数据访问集中封装，页面不直接调 wx.cloud，方便维护与切换数据源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「UI-ViewModel-Repository」架构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50800" cy="13716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② 云+本地双模回退（实验七新增）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wx.cloud 不可用或调用失败时自动回退 wx.storage，mock 种子保证无云环境可演示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USE_MOCK_FALLBACK=true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50800" cy="13716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③ 输入校验（publish.js validate）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4048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申报人/位置/楼栋/房间/故障类型/手机号正则/描述 7 项校验，缺项 Toast 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/[1][3,4,5,7,8][0-9]{9}$/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42900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429000"/>
            <a:ext cx="50800" cy="13716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④ 订阅消息双向通知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84048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提交报修→管理员；处理完成→报修人，云函数 applyNotice/handleNotice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34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wx.requestSubscribeMessage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937760"/>
            <a:ext cx="50800" cy="13716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⑤ 图片上传+预览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wx.chooseMedia 选图，云存储 uploadFile，wx.previewImage 预览，最多 6 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43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cloudPath: repair/xxx.jpg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539496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50800" cy="13716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2121"/>
                </a:solidFill>
                <a:latin typeface="微软雅黑"/>
              </a:rPr>
              <a:t>⑥ 异常处理全覆盖（实验七新增）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4924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所有云调用 try/catch + Toast 反馈，详情不存在/加载失败/权限拒绝均有提示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943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7A45"/>
                </a:solidFill>
                <a:latin typeface="Consolas"/>
              </a:rPr>
              <a:t>▌ catch → wx.showToast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六、测试与边界处理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边界与异常用例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2926080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3200400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预期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20240"/>
            <a:ext cx="4800600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9202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77440"/>
            <a:ext cx="29260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列表为空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32004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显示空状态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377440"/>
            <a:ext cx="48006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mock 3 条，切「已处理」见 1 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346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无云环境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8346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自动本地兜底不报错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34640"/>
            <a:ext cx="4800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8346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关闭云开发可验证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291840"/>
            <a:ext cx="29260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提交缺申报人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291840"/>
            <a:ext cx="32004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 拦截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291840"/>
            <a:ext cx="48006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2918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validate() 返回 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490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手机号格式错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7490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749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 提示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749040"/>
            <a:ext cx="4800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7490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正则校验拦截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06240"/>
            <a:ext cx="29260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图片超 6 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206240"/>
            <a:ext cx="32004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 拦截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4206240"/>
            <a:ext cx="48006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42062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remaining ≤ 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6634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加载失败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6634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4663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 反馈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4663440"/>
            <a:ext cx="4800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6634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断网/云函数异常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120640"/>
            <a:ext cx="29260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详情不存在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5120640"/>
            <a:ext cx="32004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5120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 提示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5120640"/>
            <a:ext cx="48006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51206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删除后回退详情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5778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非管理员点管理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55778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5577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Toast「暂无权限」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5577840"/>
            <a:ext cx="4800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55778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isAdmin 判断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7A45"/>
                </a:solidFill>
                <a:latin typeface="微软雅黑"/>
              </a:rPr>
              <a:t>→ 所有边界均有明确 UI 反馈，不静默失败；云失败自动回退本地，主流程不中断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七、项目演示路径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5 步演示完整业务闭环（3-5 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11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12121"/>
                </a:solidFill>
                <a:latin typeface="微软雅黑"/>
              </a:rPr>
              <a:t>首页筛选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切「未处理/已处理」Tab，切楼栋筛选，触底分页加载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12121"/>
                </a:solidFill>
                <a:latin typeface="微软雅黑"/>
              </a:rPr>
              <a:t>提交报修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填表（位置/楼栋/房间/手机/故障类型/描述）+ 选图，提交回首页见新记录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49039"/>
            <a:ext cx="548640" cy="548640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490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12121"/>
                </a:solidFill>
                <a:latin typeface="微软雅黑"/>
              </a:rPr>
              <a:t>查看详情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进详情页，预览图片、一键拨号、复制电话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17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12121"/>
                </a:solidFill>
                <a:latin typeface="微软雅黑"/>
              </a:rPr>
              <a:t>管理后台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17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处理一条（状态变「已处理」）、删除一条，验证权限判断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86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12121"/>
                </a:solidFill>
                <a:latin typeface="微软雅黑"/>
              </a:rPr>
              <a:t>无云演示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486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06060"/>
                </a:solidFill>
                <a:latin typeface="微软雅黑"/>
              </a:rPr>
              <a:t>关闭云开发重启，验证本地兜底 + mock 种子 + 我的报修缓存正常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217920"/>
            <a:ext cx="109270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06060"/>
                </a:solidFill>
                <a:latin typeface="微软雅黑"/>
              </a:rPr>
              <a:t>演示顺序对应「数据从哪里来→状态如何变→事件如何流转→错误如何处理」四问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65760"/>
            <a:ext cx="164592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12121"/>
                </a:solidFill>
                <a:latin typeface="微软雅黑"/>
              </a:rPr>
              <a:t>八、答辩四问自检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06060"/>
                </a:solidFill>
                <a:latin typeface="微软雅黑"/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86891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750A4"/>
                </a:solidFill>
                <a:latin typeface="微软雅黑"/>
              </a:rPr>
              <a:t>任务书要求：能回答四问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39496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394960" cy="4572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数据在哪里？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云数据库 c_apply（报修记录）+ c_role（角色）+ c_share（分享）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本地 wx.storage：my_repairs（我的报修）+ mock_seeded（种子）+ admin（管理员）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39496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5394960" cy="4572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状态在哪里？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页面级：Page 的 data + setData 驱动渲染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全局级：App 实例 + wx.storage 持久化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状态字段：未处理 / 已处理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539496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5394960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事件从哪里来、到哪里去？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用户操作（点击/输入）→ Page 方法 → utils/api.js（Repository）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→ 云开发 / 本地兜底 → 回调 setData → UI 刷新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206240"/>
            <a:ext cx="539496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solidFill>
            <a:srgbClr val="557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206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错误在哪里处理？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api.js 每个方法 try/catch，云失败自动回退本地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页面层 Toast 明确反馈（加载失败/无权限/校验拦截）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微软雅黑"/>
              </a:rPr>
              <a:t>不静默失败，主流程不中断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731520"/>
            <a:ext cx="2011680" cy="201168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5029200"/>
            <a:ext cx="1463040" cy="146304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5486400"/>
            <a:ext cx="1280160" cy="1280160"/>
          </a:xfrm>
          <a:prstGeom prst="ellipse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371600" cy="381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FFFFFF"/>
                </a:solidFill>
                <a:latin typeface="微软雅黑"/>
              </a:rPr>
              <a:t>完成 4 页面微信小程序，覆盖任务书 8 项基本功能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FFFFFF"/>
                </a:solidFill>
                <a:latin typeface="微软雅黑"/>
              </a:rPr>
              <a:t>云开发 + 本地兜底双模，无云环境也能演示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FFFFFF"/>
                </a:solidFill>
                <a:latin typeface="微软雅黑"/>
              </a:rPr>
              <a:t>6 项核心代码：Repository/双模/校验/订阅/上传/异常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FFFFFF"/>
                </a:solidFill>
                <a:latin typeface="微软雅黑"/>
              </a:rPr>
              <a:t>8 个边界用例全覆盖，明确 UI 反馈不静默失败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FF7A45"/>
                </a:solidFill>
                <a:latin typeface="微软雅黑"/>
              </a:rPr>
              <a:t>▸ </a:t>
            </a:r>
            <a:r>
              <a:rPr sz="1800">
                <a:solidFill>
                  <a:srgbClr val="FFFFFF"/>
                </a:solidFill>
                <a:latin typeface="微软雅黑"/>
              </a:rPr>
              <a:t>任务书「项目九」8 项基本功能 100% 达成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303520"/>
            <a:ext cx="10332720" cy="1005840"/>
          </a:xfrm>
          <a:prstGeom prst="rect">
            <a:avLst/>
          </a:prstGeom>
          <a:solidFill>
            <a:srgbClr val="7B5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答辩四问已能独立解释本人负责模块、核心代码与关键设计决策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E0CBF0"/>
                </a:solidFill>
                <a:latin typeface="微软雅黑"/>
              </a:rPr>
              <a:t>感谢老师与同学指导 · 感谢开源项目 MrYe443 提供 UI 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